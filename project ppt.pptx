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391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49308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2897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7894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7477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8967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6996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342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99879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4220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279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963872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90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62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freepngimg.com/png/85354-text-question-blog-questions-logo-any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freepngimg.com/png/19305-thank-you-png-clipa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48823" y="100603"/>
            <a:ext cx="45486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Insights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925129" y="1314635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Superstore Order Data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10363" y="2524711"/>
            <a:ext cx="3371273" cy="7652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by omkar </a:t>
            </a:r>
            <a:r>
              <a:rPr lang="en-US" sz="1600" i="1" dirty="0" err="1">
                <a:solidFill>
                  <a:srgbClr val="AEB8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wable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— “data” Sheet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212080" cy="48920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data!A1:U9995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ID   •   Order ID   •   Customer Name   •   Order Date   •   Ship Date   •   Ship Mode   •   Segment   •   Region   •   Category   •   Sub-Category   •   Sales   •   Quantity   •   Discount   •   Profit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9,994 order line items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line item across 5,009 orders, covering Furniture, Office Supplies, and Technology sales in the US.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03504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rows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600200"/>
          <a:ext cx="5577840" cy="257860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CA-2016-152156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Claire Gute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Furniture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$261.96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$41.91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CA-2016-152156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Claire Gute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Furniture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$731.94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$219.58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CA-2016-138688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Van Huff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Supp.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US-2015-108966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Sean O'Donnell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Furniture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$957.58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-$383.03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US-2015-108966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Sean O'Donnell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Supp.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$22.37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...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035040" y="41605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flat table is the source for every pivot, chart, and dashboard visual that follows.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035040" y="4800600"/>
            <a:ext cx="5577840" cy="1325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Stats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309360" y="52578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$2,297,201    </a:t>
            </a: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Profit: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$286,397
</a:t>
            </a: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5,009    </a:t>
            </a:r>
            <a:r>
              <a:rPr lang="en-US" sz="11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Qty: </a:t>
            </a:r>
            <a:r>
              <a:rPr lang="en-US" sz="11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37,873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Category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leads total sales, narrowly ahead of Furniture and Office Supplies.</a:t>
            </a:r>
            <a:endParaRPr lang="en-US" sz="1300" dirty="0"/>
          </a:p>
        </p:txBody>
      </p:sp>
      <p:pic>
        <p:nvPicPr>
          <p:cNvPr id="4" name="Image 0" descr="/home/claude/vchart_sales_categ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63040"/>
            <a:ext cx="5852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463040"/>
            <a:ext cx="4480560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011680"/>
          <a:ext cx="3931920" cy="1645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Sales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$836,154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Furniture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$741,999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Office Supplies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$719,047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223760" y="35204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by Category: Technology $145,455 · Office Supplies $122,491 · Furniture $18,451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Furniture sells almost as much as Technology but returns 8x less profit — the weakest margin of the three categories.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Region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$2.3M in total sales splits across the 4 US regions.</a:t>
            </a:r>
            <a:endParaRPr lang="en-US" sz="1300" dirty="0"/>
          </a:p>
        </p:txBody>
      </p:sp>
      <p:pic>
        <p:nvPicPr>
          <p:cNvPr id="4" name="Image 0" descr="/home/claude/vchart_sales_reg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480" y="1463040"/>
            <a:ext cx="548640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463040"/>
            <a:ext cx="3840480" cy="44805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645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Breakdown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2011680"/>
          <a:ext cx="3291840" cy="19202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$725,458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$678,781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$501,240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$391,722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080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leads both sales and order volume (3,203 orders, the most of any region), while South trails on both — the two rankings move together here.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Sub-Categories by Sales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and Chairs are the two strongest sub-categories, each over $325K.</a:t>
            </a:r>
            <a:endParaRPr lang="en-US" sz="1300" dirty="0"/>
          </a:p>
        </p:txBody>
      </p:sp>
      <p:pic>
        <p:nvPicPr>
          <p:cNvPr id="4" name="Image 0" descr="/home/claude/vchart_top_subcateg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1520" y="1463040"/>
            <a:ext cx="5852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463040"/>
            <a:ext cx="4480560" cy="420624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3"/>
          <p:cNvSpPr/>
          <p:nvPr/>
        </p:nvSpPr>
        <p:spPr>
          <a:xfrm>
            <a:off x="722376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011680"/>
          <a:ext cx="393192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Sub-Category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Phones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$330,007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$328,449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$223,844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$206,966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Binders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A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$203,413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</a:t>
            </a:r>
            <a:r>
              <a:rPr lang="en-US" sz="12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top 5 sub-categories alone account for roughly 56% of total company sales.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vs Pivot Chart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Pivot Table?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Pivot Table summarizes large amounts of raw data into a compact grid. It lets you group, filter, count, and sum rows (e.g. data!A1:U9995) by fields like Region, Category, or Customer — without writing formulas.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1887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Pivot Chart?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Pivot Chart is a visual (bar, pie, column, etc.) built directly on top of a Pivot Table's output. It updates automatically whenever the Pivot Table refreshes, giving a live picture of the same summarized data — like the charts on this dashboard.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 table screenshot</a:t>
            </a:r>
            <a:endParaRPr lang="en-US" sz="1400" dirty="0"/>
          </a:p>
        </p:txBody>
      </p:sp>
      <p:pic>
        <p:nvPicPr>
          <p:cNvPr id="10" name="Image 0" descr="/home/claude/vinay_pivot_screen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0160" y="4114800"/>
            <a:ext cx="96012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10332720" cy="4846320"/>
          </a:xfrm>
          <a:prstGeom prst="roundRect">
            <a:avLst>
              <a:gd name="adj" fmla="val 1132"/>
            </a:avLst>
          </a:prstGeom>
          <a:solidFill>
            <a:srgbClr val="F4F6F8"/>
          </a:solidFill>
          <a:ln/>
        </p:spPr>
      </p:sp>
      <p:pic>
        <p:nvPicPr>
          <p:cNvPr id="4" name="Image 0" descr="/home/claude/vinay_dashboard_screen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88720" y="1737360"/>
            <a:ext cx="97840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57200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Details Dashboard — order counts and totals by Region, built entirely from Pivot Table + Pivot Chart output.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18B846-D47A-483A-B862-E818759F6B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029845" y="414155"/>
            <a:ext cx="3810000" cy="285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1C0D17-B17E-433B-8228-312CF054F1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910858" y="2743200"/>
            <a:ext cx="8339802" cy="37160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0B5E80-BE27-4883-8A30-064D676A0739}"/>
              </a:ext>
            </a:extLst>
          </p:cNvPr>
          <p:cNvSpPr txBox="1"/>
          <p:nvPr/>
        </p:nvSpPr>
        <p:spPr>
          <a:xfrm>
            <a:off x="1615809" y="6644374"/>
            <a:ext cx="89299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524</Words>
  <Application>Microsoft Office PowerPoint</Application>
  <PresentationFormat>Widescreen</PresentationFormat>
  <Paragraphs>115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omkarwable2021@outlook.com</cp:lastModifiedBy>
  <cp:revision>3</cp:revision>
  <dcterms:created xsi:type="dcterms:W3CDTF">2026-08-10T06:19:01Z</dcterms:created>
  <dcterms:modified xsi:type="dcterms:W3CDTF">2026-10-07T04:26:35Z</dcterms:modified>
</cp:coreProperties>
</file>